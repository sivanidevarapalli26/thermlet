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27" d="100"/>
          <a:sy n="127" d="100"/>
        </p:scale>
        <p:origin x="13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RAPALLI, SIVANI" userId="7eb463f7-2bdd-47b2-8184-5ceccd4e27c8" providerId="ADAL" clId="{795935E6-0573-5198-8DA4-05B8CB8308F6}"/>
    <pc:docChg chg="modSld">
      <pc:chgData name="DEVARAPALLI, SIVANI" userId="7eb463f7-2bdd-47b2-8184-5ceccd4e27c8" providerId="ADAL" clId="{795935E6-0573-5198-8DA4-05B8CB8308F6}" dt="2026-03-04T00:41:08.066" v="4" actId="20577"/>
      <pc:docMkLst>
        <pc:docMk/>
      </pc:docMkLst>
      <pc:sldChg chg="modSp mod">
        <pc:chgData name="DEVARAPALLI, SIVANI" userId="7eb463f7-2bdd-47b2-8184-5ceccd4e27c8" providerId="ADAL" clId="{795935E6-0573-5198-8DA4-05B8CB8308F6}" dt="2026-03-04T00:41:08.066" v="4" actId="20577"/>
        <pc:sldMkLst>
          <pc:docMk/>
          <pc:sldMk cId="0" sldId="257"/>
        </pc:sldMkLst>
        <pc:spChg chg="mod">
          <ac:chgData name="DEVARAPALLI, SIVANI" userId="7eb463f7-2bdd-47b2-8184-5ceccd4e27c8" providerId="ADAL" clId="{795935E6-0573-5198-8DA4-05B8CB8308F6}" dt="2026-03-04T00:41:08.066" v="4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Relation Hallucination Analysis in Vision-Language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649675"/>
          </a:xfrm>
        </p:spPr>
        <p:txBody>
          <a:bodyPr>
            <a:noAutofit/>
          </a:bodyPr>
          <a:lstStyle/>
          <a:p>
            <a:r>
              <a:rPr sz="1600" dirty="0"/>
              <a:t>Datasets</a:t>
            </a:r>
          </a:p>
          <a:p>
            <a:pPr lvl="1"/>
            <a:r>
              <a:rPr sz="1600" dirty="0" err="1"/>
              <a:t>MMRel</a:t>
            </a:r>
            <a:r>
              <a:rPr sz="1600" dirty="0"/>
              <a:t>: 1,632 image–question–answer pairs</a:t>
            </a:r>
            <a:endParaRPr lang="en-US" sz="1600" dirty="0"/>
          </a:p>
          <a:p>
            <a:pPr lvl="1"/>
            <a:r>
              <a:rPr lang="en-US" sz="1600" dirty="0"/>
              <a:t>R-Bench: 3,466 image–question–answer pairs</a:t>
            </a:r>
          </a:p>
          <a:p>
            <a:pPr lvl="1"/>
            <a:endParaRPr sz="1600" dirty="0"/>
          </a:p>
          <a:p>
            <a:r>
              <a:rPr sz="1600" dirty="0"/>
              <a:t>Each datapoint contains an image with a relational yes/no question</a:t>
            </a:r>
            <a:endParaRPr lang="en-US" sz="1600" dirty="0"/>
          </a:p>
          <a:p>
            <a:endParaRPr lang="en-US" sz="1600" dirty="0"/>
          </a:p>
          <a:p>
            <a:r>
              <a:rPr sz="1600" dirty="0"/>
              <a:t>Closed-Source Model Evaluation</a:t>
            </a:r>
          </a:p>
          <a:p>
            <a:pPr lvl="1"/>
            <a:r>
              <a:rPr sz="1600" dirty="0"/>
              <a:t>GPT</a:t>
            </a:r>
            <a:endParaRPr lang="en-US" sz="1600" dirty="0"/>
          </a:p>
          <a:p>
            <a:pPr lvl="1"/>
            <a:r>
              <a:rPr sz="1600" dirty="0"/>
              <a:t>Gemini</a:t>
            </a:r>
            <a:endParaRPr lang="en-US" sz="1600" dirty="0"/>
          </a:p>
          <a:p>
            <a:pPr lvl="1"/>
            <a:r>
              <a:rPr sz="1600" dirty="0"/>
              <a:t>Claude</a:t>
            </a:r>
            <a:endParaRPr lang="en-US" sz="1600" dirty="0"/>
          </a:p>
          <a:p>
            <a:pPr lvl="1"/>
            <a:endParaRPr sz="1600" dirty="0"/>
          </a:p>
          <a:p>
            <a:r>
              <a:rPr sz="1600" dirty="0"/>
              <a:t>Experiments</a:t>
            </a:r>
          </a:p>
          <a:p>
            <a:pPr lvl="1"/>
            <a:r>
              <a:rPr sz="1600" dirty="0"/>
              <a:t>Original images + question pairs</a:t>
            </a:r>
            <a:endParaRPr lang="en-US" sz="1600" dirty="0"/>
          </a:p>
          <a:p>
            <a:pPr lvl="1"/>
            <a:r>
              <a:rPr sz="1600" dirty="0"/>
              <a:t>Rotated images: 90° and 270°</a:t>
            </a:r>
            <a:endParaRPr lang="en-US" sz="1600" dirty="0"/>
          </a:p>
          <a:p>
            <a:pPr lvl="1"/>
            <a:endParaRPr sz="1600" dirty="0"/>
          </a:p>
          <a:p>
            <a:r>
              <a:rPr sz="1600" dirty="0"/>
              <a:t>Goal: evaluate robustness to spatial transformations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Corruption, Restoration &amp; Open-Source VLM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r>
              <a:rPr sz="1600" dirty="0"/>
              <a:t>Image Corruption Experiments</a:t>
            </a:r>
          </a:p>
          <a:p>
            <a:pPr lvl="1"/>
            <a:r>
              <a:rPr sz="1600" dirty="0"/>
              <a:t> Gaussian Blur</a:t>
            </a:r>
            <a:endParaRPr lang="en-US" sz="1600" dirty="0"/>
          </a:p>
          <a:p>
            <a:pPr lvl="1"/>
            <a:r>
              <a:rPr sz="1600" dirty="0"/>
              <a:t>Impulse Noise</a:t>
            </a:r>
            <a:endParaRPr lang="en-US" sz="1600" dirty="0"/>
          </a:p>
          <a:p>
            <a:pPr lvl="1"/>
            <a:r>
              <a:rPr sz="1600" dirty="0"/>
              <a:t>Pixelate</a:t>
            </a:r>
            <a:endParaRPr lang="en-US" sz="1600" dirty="0"/>
          </a:p>
          <a:p>
            <a:pPr lvl="1"/>
            <a:r>
              <a:rPr sz="1600" dirty="0"/>
              <a:t>Saturate</a:t>
            </a:r>
          </a:p>
          <a:p>
            <a:r>
              <a:rPr sz="1600" dirty="0"/>
              <a:t>Evaluation Scenarios</a:t>
            </a:r>
          </a:p>
          <a:p>
            <a:pPr lvl="1"/>
            <a:r>
              <a:rPr sz="1600" dirty="0"/>
              <a:t>Corrupted image + question</a:t>
            </a:r>
          </a:p>
          <a:p>
            <a:pPr lvl="1"/>
            <a:r>
              <a:rPr sz="1600" dirty="0"/>
              <a:t>Corrupted image + question + corruption information</a:t>
            </a:r>
          </a:p>
          <a:p>
            <a:pPr lvl="1"/>
            <a:r>
              <a:rPr sz="1600" dirty="0"/>
              <a:t>Restored image + question</a:t>
            </a:r>
          </a:p>
          <a:p>
            <a:r>
              <a:rPr sz="1600" dirty="0"/>
              <a:t>Image Restoration</a:t>
            </a:r>
            <a:r>
              <a:rPr lang="en-US" sz="1600" dirty="0"/>
              <a:t> : </a:t>
            </a:r>
            <a:r>
              <a:rPr sz="1600" dirty="0"/>
              <a:t>SUPIR denoiser used to </a:t>
            </a:r>
            <a:r>
              <a:rPr sz="1600"/>
              <a:t>restore </a:t>
            </a:r>
            <a:r>
              <a:rPr lang="en-US" sz="1600"/>
              <a:t>from </a:t>
            </a:r>
            <a:r>
              <a:rPr sz="1600"/>
              <a:t>corrupted </a:t>
            </a:r>
            <a:r>
              <a:rPr sz="1600" dirty="0"/>
              <a:t>images</a:t>
            </a:r>
          </a:p>
          <a:p>
            <a:r>
              <a:rPr sz="1600" dirty="0"/>
              <a:t>Open-Source Models (R-Bench)</a:t>
            </a:r>
          </a:p>
          <a:p>
            <a:pPr lvl="1"/>
            <a:r>
              <a:rPr sz="1600" dirty="0"/>
              <a:t>Qwen2-VL 7B</a:t>
            </a:r>
            <a:endParaRPr lang="en-US" sz="1600" dirty="0"/>
          </a:p>
          <a:p>
            <a:pPr lvl="1"/>
            <a:r>
              <a:rPr sz="1600" dirty="0"/>
              <a:t>InternVL2 8B</a:t>
            </a:r>
            <a:endParaRPr lang="en-US" sz="1600" dirty="0"/>
          </a:p>
          <a:p>
            <a:pPr lvl="1"/>
            <a:r>
              <a:rPr sz="1600" dirty="0" err="1"/>
              <a:t>LLaVA</a:t>
            </a:r>
            <a:r>
              <a:rPr sz="1600" dirty="0"/>
              <a:t>-Next 8B</a:t>
            </a:r>
            <a:endParaRPr lang="en-US" sz="1600" dirty="0"/>
          </a:p>
          <a:p>
            <a:pPr lvl="1"/>
            <a:r>
              <a:rPr sz="1600" dirty="0"/>
              <a:t>DeepSeek-Janus 7B</a:t>
            </a:r>
            <a:endParaRPr lang="en-US" sz="1600" dirty="0"/>
          </a:p>
          <a:p>
            <a:pPr lvl="1"/>
            <a:r>
              <a:rPr sz="1600" dirty="0"/>
              <a:t>Llama 3.2 11B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7A7E3-5CFC-212E-3F8F-78DFB8E3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Results:Accuracy</a:t>
            </a:r>
            <a:r>
              <a:rPr lang="en-US" dirty="0"/>
              <a:t> </a:t>
            </a:r>
            <a:r>
              <a:rPr lang="en-US" dirty="0" err="1"/>
              <a:t>Comparision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134200-C1C6-3BD4-BE0C-7137CDEFDB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47134"/>
            <a:ext cx="8229600" cy="342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19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2148-9F91-8181-1D2B-F8BC2CB5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C971ED7-03B4-934C-C499-44672FDF7D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94560"/>
            <a:ext cx="8229600" cy="313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554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A955-6401-49D7-6FA6-6F38423D8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 Results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90E4DB3-83AD-C1B9-99E7-5620BA2FE8A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86" y="1199796"/>
            <a:ext cx="7960658" cy="222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5BD2891-AD2C-2548-18E7-B91A923A1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29" y="3741291"/>
            <a:ext cx="8084372" cy="241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89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C977A-6D3F-F805-8E89-A1310F19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VLM Inference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B83F513-4A98-ECE1-43DB-369D5C5835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36" y="1310062"/>
            <a:ext cx="762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4A5D7A9-C5B3-D2E8-158A-22F35ED83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91" y="4122868"/>
            <a:ext cx="7100048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858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134</Words>
  <Application>Microsoft Macintosh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Relation Hallucination Analysis in Vision-Language Models</vt:lpstr>
      <vt:lpstr>Corruption, Restoration &amp; Open-Source VLM Inference</vt:lpstr>
      <vt:lpstr>Results:Accuracy Comparision</vt:lpstr>
      <vt:lpstr>Results</vt:lpstr>
      <vt:lpstr>Rotation Results</vt:lpstr>
      <vt:lpstr>VLM Inference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DEVARAPALLI, SIVANI</cp:lastModifiedBy>
  <cp:revision>2</cp:revision>
  <dcterms:created xsi:type="dcterms:W3CDTF">2013-01-27T09:14:16Z</dcterms:created>
  <dcterms:modified xsi:type="dcterms:W3CDTF">2026-03-04T00:41:16Z</dcterms:modified>
  <cp:category/>
</cp:coreProperties>
</file>